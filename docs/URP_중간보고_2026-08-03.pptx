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1장은 무엇을 만들었나. 그림 하나로 교전 구도 전체를 설명하고, 오른쪽 세 장이 이번 기간에 한 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경계 1: a* = 2ρ/τ² = 39.3 (완벽 정렬 가정). 경계 2: a*(ψ) = 2d(tanθ − ψ)/τ², ψ = slew_audit 실측 4.26° → 25.8. 곡선 50% 교차 23.8 (hold n=1500). 곡선은 손튜닝 기준선의 것이지 학습 정책의 것이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4번은 지도가 필요한 모델링 판단. 결과 방향과 무관하게 물리적으로 옳은 형태로 구현하는 방식을 제안.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부록. 교수님 피드백 3번(용어 정의)에 대응. 본문 숫자는 전부 이 표에서 옴. 연구비 금액은 채워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 한 일과 현재 위치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요격 시스템을 만들고 → 물리값을 확정하고 → 학습 준비를 마쳤습니다  ·  2026년 8월 2일</a:t>
            </a:r>
            <a:endParaRPr lang="en-US" sz="1350" dirty="0"/>
          </a:p>
        </p:txBody>
      </p:sp>
      <p:pic>
        <p:nvPicPr>
          <p:cNvPr id="4" name="Image 0" descr="fig_conce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6675120" cy="41056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60920" y="1225296"/>
            <a:ext cx="4370832" cy="1307592"/>
          </a:xfrm>
          <a:prstGeom prst="roundRect">
            <a:avLst>
              <a:gd name="adj" fmla="val 5594"/>
            </a:avLst>
          </a:prstGeom>
          <a:solidFill>
            <a:srgbClr val="EEF3FB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62088" y="1316736"/>
            <a:ext cx="396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요격 시스템을 만들었다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562088" y="1609344"/>
            <a:ext cx="3968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1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네트로 붙잡는 길과 물리적으로 부딪쳐 떨어뜨리는 길, 두 가지를 하나의 학습 정책이 상황에 따라 골라 쓰도록 구현했습니다. 공격 드론 쪽도 회피 실력을 3단계로 만들어, 어려운 상대에게도 통하는지 볼 수 있게 했습니다.</a:t>
            </a:r>
            <a:endParaRPr lang="en-US" sz="1010" dirty="0"/>
          </a:p>
        </p:txBody>
      </p:sp>
      <p:sp>
        <p:nvSpPr>
          <p:cNvPr id="8" name="Shape 5"/>
          <p:cNvSpPr/>
          <p:nvPr/>
        </p:nvSpPr>
        <p:spPr>
          <a:xfrm>
            <a:off x="7360920" y="2606040"/>
            <a:ext cx="4370832" cy="1307592"/>
          </a:xfrm>
          <a:prstGeom prst="roundRect">
            <a:avLst>
              <a:gd name="adj" fmla="val 5594"/>
            </a:avLst>
          </a:prstGeom>
          <a:solidFill>
            <a:srgbClr val="EEF3FB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62088" y="2697480"/>
            <a:ext cx="396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가정으로 쓰던 값을 실제 논문 값으로 바꿨다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62088" y="2990088"/>
            <a:ext cx="3968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1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네트가 실제로 덮는 반경, 네트가 펼쳐지는 데 걸리는 시간, 방어 드론과 공격 드론의 성능 차이 — 근거 없이 감으로 정해 두었던 값 7개를 찾아내 실험 결과가 있는 논문 값으로 교체했습니다.</a:t>
            </a:r>
            <a:endParaRPr lang="en-US" sz="1010" dirty="0"/>
          </a:p>
        </p:txBody>
      </p:sp>
      <p:sp>
        <p:nvSpPr>
          <p:cNvPr id="11" name="Shape 8"/>
          <p:cNvSpPr/>
          <p:nvPr/>
        </p:nvSpPr>
        <p:spPr>
          <a:xfrm>
            <a:off x="7360920" y="3986784"/>
            <a:ext cx="4370832" cy="1307592"/>
          </a:xfrm>
          <a:prstGeom prst="roundRect">
            <a:avLst>
              <a:gd name="adj" fmla="val 5594"/>
            </a:avLst>
          </a:prstGeom>
          <a:solidFill>
            <a:srgbClr val="EEF3FB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62088" y="4078224"/>
            <a:ext cx="3968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학습을 걸기 전에 전제를 검사하게 했다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562088" y="4370832"/>
            <a:ext cx="3968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1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하나 고칠 때마다 “이 조건에서 협력이 의미가 있기는 한가”를 자동으로 되묻는 장치를 붙였습니다. 이번 기간에 네 번 걸렸고, 그 네 건이 3장의 내용입니다. 학습을 돌리기 전에 전부 발견했습니다.</a:t>
            </a:r>
            <a:endParaRPr lang="en-US" sz="1010" dirty="0"/>
          </a:p>
        </p:txBody>
      </p:sp>
      <p:sp>
        <p:nvSpPr>
          <p:cNvPr id="14" name="Shape 11"/>
          <p:cNvSpPr/>
          <p:nvPr/>
        </p:nvSpPr>
        <p:spPr>
          <a:xfrm>
            <a:off x="457200" y="5394960"/>
            <a:ext cx="11274552" cy="896112"/>
          </a:xfrm>
          <a:prstGeom prst="roundRect">
            <a:avLst>
              <a:gd name="adj" fmla="val 8163"/>
            </a:avLst>
          </a:prstGeom>
          <a:solidFill>
            <a:srgbClr val="F4F8FF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" y="54589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연구계획서에 적어둔 단계 대비 현재 위치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76656" y="5724144"/>
            <a:ext cx="34290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751576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 </a:t>
            </a:r>
            <a:pPr indent="0" marL="0">
              <a:buNone/>
            </a:pPr>
            <a:r>
              <a:rPr lang="en-US" sz="1100" b="1" dirty="0">
                <a:solidFill>
                  <a:srgbClr val="2F7A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22960" y="5971032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 · 비교 기준선 · 학습 전 사전 점검</a:t>
            </a:r>
            <a:endParaRPr lang="en-US" sz="960" dirty="0"/>
          </a:p>
        </p:txBody>
      </p:sp>
      <p:sp>
        <p:nvSpPr>
          <p:cNvPr id="19" name="Shape 16"/>
          <p:cNvSpPr/>
          <p:nvPr/>
        </p:nvSpPr>
        <p:spPr>
          <a:xfrm>
            <a:off x="4306824" y="5724144"/>
            <a:ext cx="34290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53128" y="5751576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 </a:t>
            </a:r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완료 · 착수 대기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453128" y="5971032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기준선 · 비교 실험</a:t>
            </a:r>
            <a:endParaRPr lang="en-US" sz="960" dirty="0"/>
          </a:p>
        </p:txBody>
      </p:sp>
      <p:sp>
        <p:nvSpPr>
          <p:cNvPr id="22" name="Shape 19"/>
          <p:cNvSpPr/>
          <p:nvPr/>
        </p:nvSpPr>
        <p:spPr>
          <a:xfrm>
            <a:off x="7936992" y="5724144"/>
            <a:ext cx="34290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083296" y="5751576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이후  </a:t>
            </a:r>
            <a:pPr indent="0" marL="0">
              <a:buNone/>
            </a:pPr>
            <a:r>
              <a:rPr lang="en-US" sz="1100" b="1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8083296" y="5971032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핵심 그림 · 최종 보고서</a:t>
            </a:r>
            <a:endParaRPr lang="en-US" sz="960" dirty="0"/>
          </a:p>
        </p:txBody>
      </p:sp>
      <p:sp>
        <p:nvSpPr>
          <p:cNvPr id="25" name="Text 22"/>
          <p:cNvSpPr/>
          <p:nvPr/>
        </p:nvSpPr>
        <p:spPr>
          <a:xfrm>
            <a:off x="502920" y="6364224"/>
            <a:ext cx="11247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기간 산출물 — 자동 검증 447항목 전부 통과 · 설계·검증 문서 20편.   학습 준비는 마쳤고, 계산 자원 배정에 맞춰 다음 단계로 넘어갑니다.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성과 — 경계가 하나가 아니라 둘이었습니다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수식이 준 경계 39.3 은 실측에서 예외가 없었고(1,635판 중 0회), 곡선은 그보다 앞선 23.8 에서 무너집니다 — 그 사이가 학습이 먹을 자리입니다</a:t>
            </a:r>
            <a:endParaRPr lang="en-US" sz="1350" dirty="0"/>
          </a:p>
        </p:txBody>
      </p:sp>
      <p:pic>
        <p:nvPicPr>
          <p:cNvPr id="4" name="Image 0" descr="fig_m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25296"/>
            <a:ext cx="4462272" cy="2560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38928" y="1225296"/>
            <a:ext cx="6592824" cy="786384"/>
          </a:xfrm>
          <a:prstGeom prst="roundRect">
            <a:avLst>
              <a:gd name="adj" fmla="val 9302"/>
            </a:avLst>
          </a:prstGeom>
          <a:solidFill>
            <a:srgbClr val="EEF3FB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21808" y="1280160"/>
            <a:ext cx="6227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발사에서 포획까지 걸리는 시간 τ 를 셋으로 쪼갰습니다  —  0.30 초</a:t>
            </a:r>
            <a:endParaRPr lang="en-US" sz="1240" dirty="0"/>
          </a:p>
        </p:txBody>
      </p:sp>
      <p:sp>
        <p:nvSpPr>
          <p:cNvPr id="7" name="Text 4"/>
          <p:cNvSpPr/>
          <p:nvPr/>
        </p:nvSpPr>
        <p:spPr>
          <a:xfrm>
            <a:off x="5321808" y="1517904"/>
            <a:ext cx="6227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네트가 날아가 펼쳐지는 0.15  +  표적을 다시 보는 0.10  +  판단 0.05  (초).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지연을 잰 선행 연구가 없어(검색 범위 = 네트 포획 드론 문헌) 세 단계로 쪼개 실험 논문·센서 사양에서 가져왔고, 일부러 뺀 항목이 있어 “적어도 이만큼”인 하한값입니다.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138928" y="2084832"/>
            <a:ext cx="6592824" cy="804672"/>
          </a:xfrm>
          <a:prstGeom prst="roundRect">
            <a:avLst>
              <a:gd name="adj" fmla="val 9091"/>
            </a:avLst>
          </a:prstGeom>
          <a:solidFill>
            <a:srgbClr val="FDF6EA"/>
          </a:solidFill>
          <a:ln w="12700">
            <a:solidFill>
              <a:srgbClr val="E8D4B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321808" y="2139696"/>
            <a:ext cx="6227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 첫 번째 경계 — 도달 범위가 정합니다  (왼쪽 그림)</a:t>
            </a:r>
            <a:endParaRPr lang="en-US" sz="1240" dirty="0"/>
          </a:p>
        </p:txBody>
      </p:sp>
      <p:sp>
        <p:nvSpPr>
          <p:cNvPr id="10" name="Text 7"/>
          <p:cNvSpPr/>
          <p:nvPr/>
        </p:nvSpPr>
        <p:spPr>
          <a:xfrm>
            <a:off x="5321808" y="2377440"/>
            <a:ext cx="6227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τ 동안 공격 드론은 옆으로 w = ½·a·τ² 만큼 빠져나갈 수 있습니다. 이게 네트가 덮는 반경 ρ 보다 커지면 네트를 어디에 놓아도 못 잡습니다. 경계는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a* = 2ρ / τ² = 39.3 m/s²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이고, 이 위에서 네트 포획은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1,635 판 중 0 회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예외가 없었습니다.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138928" y="2962656"/>
            <a:ext cx="6592824" cy="932688"/>
          </a:xfrm>
          <a:prstGeom prst="roundRect">
            <a:avLst>
              <a:gd name="adj" fmla="val 7843"/>
            </a:avLst>
          </a:prstGeom>
          <a:solidFill>
            <a:srgbClr val="F0F7F9"/>
          </a:solidFill>
          <a:ln w="12700">
            <a:solidFill>
              <a:srgbClr val="BBD6D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21808" y="3017520"/>
            <a:ext cx="6227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 두 번째 경계 — 도달 범위가 아니라 겨냥 정밀도가 정합니다</a:t>
            </a:r>
            <a:endParaRPr lang="en-US" sz="1240" dirty="0"/>
          </a:p>
        </p:txBody>
      </p:sp>
      <p:sp>
        <p:nvSpPr>
          <p:cNvPr id="13" name="Text 10"/>
          <p:cNvSpPr/>
          <p:nvPr/>
        </p:nvSpPr>
        <p:spPr>
          <a:xfrm>
            <a:off x="5321808" y="3255264"/>
            <a:ext cx="62270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실제로는 완벽히 겨눌 수 없습니다. 남는 조준각을 따로 쟀더니 중앙값 4.3° 였고, 이걸 넣은 a*(ψ) = 2d (tanθ − ψ) / τ² 는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25.8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곡선이 실제로 무너지는 지점은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F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23.8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전혀 다른 방법으로 잰 두 값이 7.5 % 안에서 만납니다.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몰아주는 배치가 이득을 못 낸 이유도 이것입니다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옆방향 속도를 0.4 → 7.3 m/s 로 키워 이 경계를 왼쪽으로 밀었습니다.</a:t>
            </a:r>
            <a:endParaRPr lang="en-US" sz="950" dirty="0"/>
          </a:p>
        </p:txBody>
      </p:sp>
      <p:pic>
        <p:nvPicPr>
          <p:cNvPr id="14" name="Image 1" descr="fig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05072"/>
            <a:ext cx="10671048" cy="21945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66928" y="623620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F7A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연구계획서의 진행/중단 기준 → 통과.  </a:t>
            </a:r>
            <a:pPr indent="0" marL="0">
              <a:buNone/>
            </a:pPr>
            <a:r>
              <a:rPr lang="en-US" sz="104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수식이 예측한 위치에서 경계가 관측됐고, 두 번째 경계는 예측→검증까지 닫혔습니다.   </a:t>
            </a:r>
            <a:pPr indent="0" marL="0">
              <a:buNone/>
            </a:pPr>
            <a:r>
              <a:rPr lang="en-US" sz="104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학습이 이겨야 할 수도 정해집니다 : </a:t>
            </a:r>
            <a:pPr indent="0" marL="0">
              <a:buNone/>
            </a:pPr>
            <a:r>
              <a:rPr lang="en-US" sz="1040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겨냥 구간에서 손튜닝이 부딪쳐 내는 15.5 % 를, 기체를 부수지 않고.</a:t>
            </a:r>
            <a:endParaRPr lang="en-US" sz="10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점검이 네 번 걸러냈습니다 — 네 번째는 원인까지 찾았습니다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건 모두 학습을 돌리기 전에 발견했습니다. 50회 학습을 태운 뒤였다면 전부 사후 발견이었을 것들입니다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43584"/>
            <a:ext cx="7452360" cy="932688"/>
          </a:xfrm>
          <a:prstGeom prst="roundRect">
            <a:avLst>
              <a:gd name="adj" fmla="val 7843"/>
            </a:avLst>
          </a:prstGeom>
          <a:solidFill>
            <a:srgbClr val="EEF3FB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99616"/>
            <a:ext cx="420624" cy="420624"/>
          </a:xfrm>
          <a:prstGeom prst="ellipse">
            <a:avLst/>
          </a:prstGeom>
          <a:solidFill>
            <a:srgbClr val="2F7A4F"/>
          </a:solidFill>
          <a:ln w="12700">
            <a:solidFill>
              <a:srgbClr val="2F7A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9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3075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값을 넣었더니 협력이 필요 없어졌다</a:t>
            </a:r>
            <a:endParaRPr lang="en-US" sz="1240" dirty="0"/>
          </a:p>
        </p:txBody>
      </p:sp>
      <p:sp>
        <p:nvSpPr>
          <p:cNvPr id="8" name="Text 6"/>
          <p:cNvSpPr/>
          <p:nvPr/>
        </p:nvSpPr>
        <p:spPr>
          <a:xfrm>
            <a:off x="6400800" y="13075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7A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88720" y="1581912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9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없이 쓰던 0.4초를 실제로 풀어 보니 0.15초였습니다. 그만큼 빠르면 네트 드론 혼자서 12번 중 12번을 다 막아 — 협력을 연구할 상황 자체가 없어집니다. 원인은 지연을 너무 짧게 본 것이어서, 탐지·판단 시간을 더해 0.30초로 정정했습니다.</a:t>
            </a:r>
            <a:endParaRPr lang="en-US" sz="990" dirty="0"/>
          </a:p>
        </p:txBody>
      </p:sp>
      <p:sp>
        <p:nvSpPr>
          <p:cNvPr id="10" name="Shape 8"/>
          <p:cNvSpPr/>
          <p:nvPr/>
        </p:nvSpPr>
        <p:spPr>
          <a:xfrm>
            <a:off x="457200" y="2231136"/>
            <a:ext cx="7452360" cy="932688"/>
          </a:xfrm>
          <a:prstGeom prst="roundRect">
            <a:avLst>
              <a:gd name="adj" fmla="val 7843"/>
            </a:avLst>
          </a:prstGeom>
          <a:solidFill>
            <a:srgbClr val="EEF3FB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487168"/>
            <a:ext cx="420624" cy="420624"/>
          </a:xfrm>
          <a:prstGeom prst="ellipse">
            <a:avLst/>
          </a:prstGeom>
          <a:solidFill>
            <a:srgbClr val="2F7A4F"/>
          </a:solidFill>
          <a:ln w="12700">
            <a:solidFill>
              <a:srgbClr val="2F7A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88720" y="22951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네트가 닿지도 못하는 거리를 포획으로 세고 있었다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6400800" y="22951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7A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88720" y="2569464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9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포획 판정 범위는 29.8 m 로 잡혀 있었는데, 그 시간 동안 네트가 실제로 날아가는 거리는 8.2 m 였습니다. 닿을 수 없는 표적을 성공으로 집계하던 셈입니다. 발사 가능 범위를 네트가 실제로 가는 거리로 다시 계산했습니다.</a:t>
            </a:r>
            <a:endParaRPr lang="en-US" sz="990" dirty="0"/>
          </a:p>
        </p:txBody>
      </p:sp>
      <p:sp>
        <p:nvSpPr>
          <p:cNvPr id="16" name="Shape 14"/>
          <p:cNvSpPr/>
          <p:nvPr/>
        </p:nvSpPr>
        <p:spPr>
          <a:xfrm>
            <a:off x="457200" y="3218688"/>
            <a:ext cx="7452360" cy="932688"/>
          </a:xfrm>
          <a:prstGeom prst="roundRect">
            <a:avLst>
              <a:gd name="adj" fmla="val 7843"/>
            </a:avLst>
          </a:prstGeom>
          <a:solidFill>
            <a:srgbClr val="EEF3FB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474720"/>
            <a:ext cx="420624" cy="420624"/>
          </a:xfrm>
          <a:prstGeom prst="ellipse">
            <a:avLst/>
          </a:prstGeom>
          <a:solidFill>
            <a:srgbClr val="2F7A4F"/>
          </a:solidFill>
          <a:ln w="12700">
            <a:solidFill>
              <a:srgbClr val="2F7A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474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88720" y="328269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기준선이 공짜로 물리 요격을 쓰고 있었다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6400800" y="328269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7A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88720" y="3557016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9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“사용하지 않음”으로 문서화돼 있던 입력 자리를 새 기능이 재사용하면서 충돌해, 비교용 기준선의 방어 드론 4대가 첫 순간에 전부 요격에 돌입하고 있었습니다. 못 잡았다면 논문에 실을 비교 기준선이 전부 무의미해집니다.</a:t>
            </a:r>
            <a:endParaRPr lang="en-US" sz="99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7452360" cy="1371600"/>
          </a:xfrm>
          <a:prstGeom prst="roundRect">
            <a:avLst>
              <a:gd name="adj" fmla="val 5333"/>
            </a:avLst>
          </a:prstGeom>
          <a:solidFill>
            <a:srgbClr val="FDF3F2"/>
          </a:solidFill>
          <a:ln w="12700">
            <a:solidFill>
              <a:srgbClr val="E8C4C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681728"/>
            <a:ext cx="420624" cy="42062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681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188720" y="42702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몰아주는 배치로는 이득이 나오지 않았습니다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6400800" y="42702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규명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88720" y="4544568"/>
            <a:ext cx="6035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9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현상  </a:t>
            </a:r>
            <a:pPr indent="0" marL="0">
              <a:lnSpc>
                <a:spcPct val="112000"/>
              </a:lnSpc>
              <a:buNone/>
            </a:pPr>
            <a:r>
              <a:rPr lang="en-US" sz="99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조건 48회를 짝지어 비교했더니, 몰아주는 배치가 있으나 없으나 48번 모두 같은 결과였습니다.
</a:t>
            </a:r>
            <a:pPr indent="0" marL="0">
              <a:lnSpc>
                <a:spcPct val="112000"/>
              </a:lnSpc>
              <a:buNone/>
            </a:pPr>
            <a:r>
              <a:rPr lang="en-US" sz="99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 </a:t>
            </a:r>
            <a:pPr indent="0" marL="0">
              <a:lnSpc>
                <a:spcPct val="112000"/>
              </a:lnSpc>
              <a:buNone/>
            </a:pPr>
            <a:r>
              <a:rPr lang="en-US" sz="99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협력에 반대 방향 두 효과가 함께 있기 때문입니다 — 도망갈 길은 막아 주지만, 그 과정에서 옆방향 속도가 실려 네트 드론이 겨냥을 따라가지 못합니다. 2장 ②에서 이 손해의 크기를 수치로 닫았습니다.
</a:t>
            </a:r>
            <a:pPr indent="0" marL="0">
              <a:lnSpc>
                <a:spcPct val="112000"/>
              </a:lnSpc>
              <a:buNone/>
            </a:pPr>
            <a:r>
              <a:rPr lang="en-US" sz="99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부딪쳐 떨어뜨리는 배치는 다릅니다  </a:t>
            </a:r>
            <a:pPr indent="0" marL="0">
              <a:lnSpc>
                <a:spcPct val="112000"/>
              </a:lnSpc>
              <a:buNone/>
            </a:pPr>
            <a:r>
              <a:rPr lang="en-US" sz="99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위에서 731회 중 52회(7.1%), 그 앞 겨냥 구간에서 226회 중 35회(15.5%)를 막습니다. 전부 부딪쳐 떨어뜨린 것이고 대가는 비손실 포기입니다(무력화 중 67%만 네트 회수).
</a:t>
            </a:r>
            <a:pPr indent="0" marL="0">
              <a:lnSpc>
                <a:spcPct val="112000"/>
              </a:lnSpc>
              <a:buNone/>
            </a:pPr>
            <a:r>
              <a:rPr lang="en-US" sz="99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학습의 목표가 분명해집니다  </a:t>
            </a:r>
            <a:pPr indent="0" marL="0">
              <a:lnSpc>
                <a:spcPct val="112000"/>
              </a:lnSpc>
              <a:buNone/>
            </a:pPr>
            <a:r>
              <a:rPr lang="en-US" sz="99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“비손실을 지키면서 그 영역을 방어할 수 있는가.” 두 효과를 따로 재는 장치를 만들고 이 질문을 학습 목표로 미리 선언했습니다.</a:t>
            </a:r>
            <a:endParaRPr lang="en-US" sz="990" dirty="0"/>
          </a:p>
        </p:txBody>
      </p:sp>
      <p:sp>
        <p:nvSpPr>
          <p:cNvPr id="28" name="Shape 26"/>
          <p:cNvSpPr/>
          <p:nvPr/>
        </p:nvSpPr>
        <p:spPr>
          <a:xfrm>
            <a:off x="8092440" y="1243584"/>
            <a:ext cx="3639312" cy="2029968"/>
          </a:xfrm>
          <a:prstGeom prst="roundRect">
            <a:avLst>
              <a:gd name="adj" fmla="val 3604"/>
            </a:avLst>
          </a:prstGeom>
          <a:solidFill>
            <a:srgbClr val="F4F8FF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84464" y="1335024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계획서가 이미 승인해 둔 경로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284464" y="1609344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결과가 미미할 때의 대응으로 신청서에 미리 적어둔 문장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284464" y="1865376"/>
            <a:ext cx="3255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40" i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“어디서 협력이 의미가 있고 어디서 약한지, 그 경계 분석에 집중한다 … 경계를 규명하는 것 자체가 학술 가치 있는 결과”</a:t>
            </a:r>
            <a:endParaRPr lang="en-US" sz="1040" dirty="0"/>
          </a:p>
        </p:txBody>
      </p:sp>
      <p:sp>
        <p:nvSpPr>
          <p:cNvPr id="32" name="Text 30"/>
          <p:cNvSpPr/>
          <p:nvPr/>
        </p:nvSpPr>
        <p:spPr>
          <a:xfrm>
            <a:off x="8284464" y="2633472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4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4번은 이 경로 안에 있고, 그 산출물인 “경계”는 이미 2장에서 확보했습니다. 게다가 원인까지 나와 결과가 한 단계 더 나아갔습니다.</a:t>
            </a:r>
            <a:endParaRPr lang="en-US" sz="1040" dirty="0"/>
          </a:p>
        </p:txBody>
      </p:sp>
      <p:sp>
        <p:nvSpPr>
          <p:cNvPr id="33" name="Shape 31"/>
          <p:cNvSpPr/>
          <p:nvPr/>
        </p:nvSpPr>
        <p:spPr>
          <a:xfrm>
            <a:off x="8092440" y="3364992"/>
            <a:ext cx="3639312" cy="2231136"/>
          </a:xfrm>
          <a:prstGeom prst="roundRect">
            <a:avLst>
              <a:gd name="adj" fmla="val 3279"/>
            </a:avLst>
          </a:prstGeom>
          <a:solidFill>
            <a:srgbClr val="EEF3FB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84464" y="3456432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284464" y="3749040"/>
            <a:ext cx="32552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학습 시험 가동</a:t>
            </a:r>
            <a:endParaRPr lang="en-US" sz="1080" dirty="0"/>
          </a:p>
        </p:txBody>
      </p:sp>
      <p:sp>
        <p:nvSpPr>
          <p:cNvPr id="36" name="Text 34"/>
          <p:cNvSpPr/>
          <p:nvPr/>
        </p:nvSpPr>
        <p:spPr>
          <a:xfrm>
            <a:off x="8449056" y="3922776"/>
            <a:ext cx="30906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1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 — 신호가 실제로 붙는지 확인</a:t>
            </a:r>
            <a:endParaRPr lang="en-US" sz="910" dirty="0"/>
          </a:p>
        </p:txBody>
      </p:sp>
      <p:sp>
        <p:nvSpPr>
          <p:cNvPr id="37" name="Text 35"/>
          <p:cNvSpPr/>
          <p:nvPr/>
        </p:nvSpPr>
        <p:spPr>
          <a:xfrm>
            <a:off x="8284464" y="4105656"/>
            <a:ext cx="32552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본 학습</a:t>
            </a:r>
            <a:endParaRPr lang="en-US" sz="1080" dirty="0"/>
          </a:p>
        </p:txBody>
      </p:sp>
      <p:sp>
        <p:nvSpPr>
          <p:cNvPr id="38" name="Text 36"/>
          <p:cNvSpPr/>
          <p:nvPr/>
        </p:nvSpPr>
        <p:spPr>
          <a:xfrm>
            <a:off x="8449056" y="4279392"/>
            <a:ext cx="30906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1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— 계산 서버에서 약 3일</a:t>
            </a:r>
            <a:endParaRPr lang="en-US" sz="910" dirty="0"/>
          </a:p>
        </p:txBody>
      </p:sp>
      <p:sp>
        <p:nvSpPr>
          <p:cNvPr id="39" name="Text 37"/>
          <p:cNvSpPr/>
          <p:nvPr/>
        </p:nvSpPr>
        <p:spPr>
          <a:xfrm>
            <a:off x="8284464" y="4462272"/>
            <a:ext cx="32552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공격자 난이도 상향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8449056" y="4636008"/>
            <a:ext cx="30906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1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회피가 더 정교한 상대 2단계 추가 (3 → 5단계)</a:t>
            </a:r>
            <a:endParaRPr lang="en-US" sz="910" dirty="0"/>
          </a:p>
        </p:txBody>
      </p:sp>
      <p:sp>
        <p:nvSpPr>
          <p:cNvPr id="41" name="Text 39"/>
          <p:cNvSpPr/>
          <p:nvPr/>
        </p:nvSpPr>
        <p:spPr>
          <a:xfrm>
            <a:off x="8284464" y="4818888"/>
            <a:ext cx="32552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핵심 그림 채우기</a:t>
            </a:r>
            <a:endParaRPr lang="en-US" sz="1080" dirty="0"/>
          </a:p>
        </p:txBody>
      </p:sp>
      <p:sp>
        <p:nvSpPr>
          <p:cNvPr id="42" name="Text 40"/>
          <p:cNvSpPr/>
          <p:nvPr/>
        </p:nvSpPr>
        <p:spPr>
          <a:xfrm>
            <a:off x="8449056" y="4992624"/>
            <a:ext cx="30906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1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정책의 곡선을 2장 기준선 곡선 위에 겹치기</a:t>
            </a:r>
            <a:endParaRPr lang="en-US" sz="910" dirty="0"/>
          </a:p>
        </p:txBody>
      </p:sp>
      <p:sp>
        <p:nvSpPr>
          <p:cNvPr id="43" name="Text 41"/>
          <p:cNvSpPr/>
          <p:nvPr/>
        </p:nvSpPr>
        <p:spPr>
          <a:xfrm>
            <a:off x="8284464" y="5175504"/>
            <a:ext cx="32552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기체 사양 좁히기</a:t>
            </a:r>
            <a:endParaRPr lang="en-US" sz="1080" dirty="0"/>
          </a:p>
        </p:txBody>
      </p:sp>
      <p:sp>
        <p:nvSpPr>
          <p:cNvPr id="44" name="Text 42"/>
          <p:cNvSpPr/>
          <p:nvPr/>
        </p:nvSpPr>
        <p:spPr>
          <a:xfrm>
            <a:off x="8449056" y="5349240"/>
            <a:ext cx="30906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1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등급 범위를 매 회 무작위로 훑는 중</a:t>
            </a:r>
            <a:endParaRPr lang="en-US" sz="910" dirty="0"/>
          </a:p>
        </p:txBody>
      </p:sp>
      <p:sp>
        <p:nvSpPr>
          <p:cNvPr id="45" name="Shape 43"/>
          <p:cNvSpPr/>
          <p:nvPr/>
        </p:nvSpPr>
        <p:spPr>
          <a:xfrm>
            <a:off x="457200" y="5724144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F4F8FF"/>
          </a:solidFill>
          <a:ln w="12700">
            <a:solidFill>
              <a:srgbClr val="C6D6E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3232" y="5724144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위에서 네트로 잡는 것은 1,635회 중 0회 — 손튜닝으로 막는 유일한 길은 물리 요격이고, 그 대가는 비손실 포기입니다.   </a:t>
            </a:r>
            <a:pPr indent="0" marL="0">
              <a:buNone/>
            </a:pPr>
            <a:r>
              <a:rPr lang="en-US" sz="1120" i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건 모두 학습을 돌리기 전에 발견했습니다. 평가 기준과 표본 수도 결과를 보기 전에 미리 정해 두었습니다.</a:t>
            </a:r>
            <a:endParaRPr lang="en-US" sz="11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용어와 값의 출처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5953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본문에 쓴 숫자는 전부 아래 표의 출처에서 왔습니다. 근거 없이 정한 값은 남아 있지 않습니다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335024"/>
            <a:ext cx="11228832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35024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</a:t>
            </a:r>
            <a:endParaRPr lang="en-US" sz="1020" dirty="0"/>
          </a:p>
        </p:txBody>
      </p:sp>
      <p:sp>
        <p:nvSpPr>
          <p:cNvPr id="6" name="Text 4"/>
          <p:cNvSpPr/>
          <p:nvPr/>
        </p:nvSpPr>
        <p:spPr>
          <a:xfrm>
            <a:off x="2697480" y="1335024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연구에서의 뜻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8092440" y="1335024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값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9281160" y="13350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594360" y="1627632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 드론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97480" y="1627632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네트를 쏘아 공격 드론을 통째로 붙잡는 방어 드론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8046720" y="16276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대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9281160" y="16276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설정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502920" y="1920240"/>
            <a:ext cx="11228832" cy="0"/>
          </a:xfrm>
          <a:prstGeom prst="line">
            <a:avLst/>
          </a:prstGeom>
          <a:noFill/>
          <a:ln w="9525">
            <a:solidFill>
              <a:srgbClr val="E3EA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1920240"/>
            <a:ext cx="11228832" cy="292608"/>
          </a:xfrm>
          <a:prstGeom prst="rect">
            <a:avLst/>
          </a:prstGeom>
          <a:solidFill>
            <a:srgbClr val="F6F9FE"/>
          </a:solidFill>
          <a:ln w="12700">
            <a:solidFill>
              <a:srgbClr val="F6F9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1920240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경로제한 드론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92024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 드론의 갈 길을 좁히는 드론. 학습 대상</a:t>
            </a:r>
            <a:endParaRPr lang="en-US" sz="960" dirty="0"/>
          </a:p>
        </p:txBody>
      </p:sp>
      <p:sp>
        <p:nvSpPr>
          <p:cNvPr id="17" name="Text 15"/>
          <p:cNvSpPr/>
          <p:nvPr/>
        </p:nvSpPr>
        <p:spPr>
          <a:xfrm>
            <a:off x="8046720" y="19202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대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9281160" y="19202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설정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502920" y="2212848"/>
            <a:ext cx="11228832" cy="0"/>
          </a:xfrm>
          <a:prstGeom prst="line">
            <a:avLst/>
          </a:prstGeom>
          <a:noFill/>
          <a:ln w="9525">
            <a:solidFill>
              <a:srgbClr val="E3EA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212848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 자산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97480" y="2212848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 드론이 도달하면 실패로 판정하는 지점</a:t>
            </a:r>
            <a:endParaRPr lang="en-US" sz="960" dirty="0"/>
          </a:p>
        </p:txBody>
      </p:sp>
      <p:sp>
        <p:nvSpPr>
          <p:cNvPr id="22" name="Text 20"/>
          <p:cNvSpPr/>
          <p:nvPr/>
        </p:nvSpPr>
        <p:spPr>
          <a:xfrm>
            <a:off x="8046720" y="221284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원점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9281160" y="22128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설정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02920" y="2505456"/>
            <a:ext cx="11228832" cy="0"/>
          </a:xfrm>
          <a:prstGeom prst="line">
            <a:avLst/>
          </a:prstGeom>
          <a:noFill/>
          <a:ln w="9525">
            <a:solidFill>
              <a:srgbClr val="E3EA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2505456"/>
            <a:ext cx="11228832" cy="292608"/>
          </a:xfrm>
          <a:prstGeom prst="rect">
            <a:avLst/>
          </a:prstGeom>
          <a:solidFill>
            <a:srgbClr val="F6F9FE"/>
          </a:solidFill>
          <a:ln w="12700">
            <a:solidFill>
              <a:srgbClr val="F6F9F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2505456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 반경  ρ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697480" y="2505456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최악 방향에서 네트가 확실히 덮는 반경. 등가면적 반경(1.997 m)이 아니라 최대 내접원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8046720" y="250545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1.77 m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9281160" y="25054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Xu 2025 · Drones 9(3):190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02920" y="2798064"/>
            <a:ext cx="11228832" cy="0"/>
          </a:xfrm>
          <a:prstGeom prst="line">
            <a:avLst/>
          </a:prstGeom>
          <a:noFill/>
          <a:ln w="9525">
            <a:solidFill>
              <a:srgbClr val="E3EA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2798064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전개 지연  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697480" y="2798064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 결심부터 포획 판정까지. 네트 비행 0.15 + 재관측 0.10 + 판단 0.05</a:t>
            </a:r>
            <a:endParaRPr lang="en-US" sz="960" dirty="0"/>
          </a:p>
        </p:txBody>
      </p:sp>
      <p:sp>
        <p:nvSpPr>
          <p:cNvPr id="33" name="Text 31"/>
          <p:cNvSpPr/>
          <p:nvPr/>
        </p:nvSpPr>
        <p:spPr>
          <a:xfrm>
            <a:off x="8046720" y="27980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0.30 s</a:t>
            </a:r>
            <a:endParaRPr lang="en-US" sz="1020" dirty="0"/>
          </a:p>
        </p:txBody>
      </p:sp>
      <p:sp>
        <p:nvSpPr>
          <p:cNvPr id="34" name="Text 32"/>
          <p:cNvSpPr/>
          <p:nvPr/>
        </p:nvSpPr>
        <p:spPr>
          <a:xfrm>
            <a:off x="9281160" y="27980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Xu 2025 + 센서 사양</a:t>
            </a:r>
            <a:endParaRPr lang="en-US" sz="930" dirty="0"/>
          </a:p>
        </p:txBody>
      </p:sp>
      <p:sp>
        <p:nvSpPr>
          <p:cNvPr id="35" name="Shape 33"/>
          <p:cNvSpPr/>
          <p:nvPr/>
        </p:nvSpPr>
        <p:spPr>
          <a:xfrm>
            <a:off x="502920" y="3090672"/>
            <a:ext cx="11228832" cy="0"/>
          </a:xfrm>
          <a:prstGeom prst="line">
            <a:avLst/>
          </a:prstGeom>
          <a:noFill/>
          <a:ln w="9525">
            <a:solidFill>
              <a:srgbClr val="E3EA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3090672"/>
            <a:ext cx="11228832" cy="292608"/>
          </a:xfrm>
          <a:prstGeom prst="rect">
            <a:avLst/>
          </a:prstGeom>
          <a:solidFill>
            <a:srgbClr val="F6F9FE"/>
          </a:solidFill>
          <a:ln w="12700">
            <a:solidFill>
              <a:srgbClr val="F6F9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" y="3090672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협력 필요 경계  a*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697480" y="3090672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완벽히 겨눴을 때의 상한. 넘으면 네트로는 불가능.   a* = 2ρ / τ²</a:t>
            </a:r>
            <a:endParaRPr lang="en-US" sz="960" dirty="0"/>
          </a:p>
        </p:txBody>
      </p:sp>
      <p:sp>
        <p:nvSpPr>
          <p:cNvPr id="39" name="Text 37"/>
          <p:cNvSpPr/>
          <p:nvPr/>
        </p:nvSpPr>
        <p:spPr>
          <a:xfrm>
            <a:off x="8046720" y="30906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39.3 m/s²</a:t>
            </a:r>
            <a:endParaRPr lang="en-US" sz="1020" dirty="0"/>
          </a:p>
        </p:txBody>
      </p:sp>
      <p:sp>
        <p:nvSpPr>
          <p:cNvPr id="40" name="Text 38"/>
          <p:cNvSpPr/>
          <p:nvPr/>
        </p:nvSpPr>
        <p:spPr>
          <a:xfrm>
            <a:off x="9281160" y="30906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연구 유도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502920" y="3383280"/>
            <a:ext cx="11228832" cy="0"/>
          </a:xfrm>
          <a:prstGeom prst="line">
            <a:avLst/>
          </a:prstGeom>
          <a:noFill/>
          <a:ln w="9525">
            <a:solidFill>
              <a:srgbClr val="E3EA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" y="3383280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겨냥 경계  a*(ψ)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697480" y="338328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조준각 ψ 를 넣은 경계.   a*(ψ) = 2d (tanθ − ψ) / τ²,   ψ 실측 4.3°</a:t>
            </a:r>
            <a:endParaRPr lang="en-US" sz="960" dirty="0"/>
          </a:p>
        </p:txBody>
      </p:sp>
      <p:sp>
        <p:nvSpPr>
          <p:cNvPr id="44" name="Text 42"/>
          <p:cNvSpPr/>
          <p:nvPr/>
        </p:nvSpPr>
        <p:spPr>
          <a:xfrm>
            <a:off x="8046720" y="33832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25.8 m/s²</a:t>
            </a:r>
            <a:endParaRPr lang="en-US" sz="1020" dirty="0"/>
          </a:p>
        </p:txBody>
      </p:sp>
      <p:sp>
        <p:nvSpPr>
          <p:cNvPr id="45" name="Text 43"/>
          <p:cNvSpPr/>
          <p:nvPr/>
        </p:nvSpPr>
        <p:spPr>
          <a:xfrm>
            <a:off x="9281160" y="3383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연구 · ψ 실측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502920" y="3675888"/>
            <a:ext cx="11228832" cy="0"/>
          </a:xfrm>
          <a:prstGeom prst="line">
            <a:avLst/>
          </a:prstGeom>
          <a:noFill/>
          <a:ln w="9525">
            <a:solidFill>
              <a:srgbClr val="E3EAF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" y="3675888"/>
            <a:ext cx="11228832" cy="292608"/>
          </a:xfrm>
          <a:prstGeom prst="rect">
            <a:avLst/>
          </a:prstGeom>
          <a:solidFill>
            <a:srgbClr val="F6F9FE"/>
          </a:solidFill>
          <a:ln w="12700">
            <a:solidFill>
              <a:srgbClr val="F6F9F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4360" y="3675888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무력화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697480" y="3675888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 드론을 막는 데 성공. 네트 포획과 물리 요격을 모두 포함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046720" y="36758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020" dirty="0"/>
          </a:p>
        </p:txBody>
      </p:sp>
      <p:sp>
        <p:nvSpPr>
          <p:cNvPr id="51" name="Text 49"/>
          <p:cNvSpPr/>
          <p:nvPr/>
        </p:nvSpPr>
        <p:spPr>
          <a:xfrm>
            <a:off x="9281160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정의</a:t>
            </a:r>
            <a:endParaRPr lang="en-US" sz="930" dirty="0"/>
          </a:p>
        </p:txBody>
      </p:sp>
      <p:sp>
        <p:nvSpPr>
          <p:cNvPr id="52" name="Shape 50"/>
          <p:cNvSpPr/>
          <p:nvPr/>
        </p:nvSpPr>
        <p:spPr>
          <a:xfrm>
            <a:off x="502920" y="3968496"/>
            <a:ext cx="11228832" cy="0"/>
          </a:xfrm>
          <a:prstGeom prst="line">
            <a:avLst/>
          </a:prstGeom>
          <a:noFill/>
          <a:ln w="9525">
            <a:solidFill>
              <a:srgbClr val="E3EAF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94360" y="3968496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비손실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2697480" y="3968496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무력화 중 기체가 온전한 비율. 우리 2차 지표</a:t>
            </a:r>
            <a:endParaRPr lang="en-US" sz="960" dirty="0"/>
          </a:p>
        </p:txBody>
      </p:sp>
      <p:sp>
        <p:nvSpPr>
          <p:cNvPr id="55" name="Text 53"/>
          <p:cNvSpPr/>
          <p:nvPr/>
        </p:nvSpPr>
        <p:spPr>
          <a:xfrm>
            <a:off x="8046720" y="39684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020" dirty="0"/>
          </a:p>
        </p:txBody>
      </p:sp>
      <p:sp>
        <p:nvSpPr>
          <p:cNvPr id="56" name="Text 54"/>
          <p:cNvSpPr/>
          <p:nvPr/>
        </p:nvSpPr>
        <p:spPr>
          <a:xfrm>
            <a:off x="9281160" y="39684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정의</a:t>
            </a:r>
            <a:endParaRPr lang="en-US" sz="930" dirty="0"/>
          </a:p>
        </p:txBody>
      </p:sp>
      <p:sp>
        <p:nvSpPr>
          <p:cNvPr id="57" name="Shape 55"/>
          <p:cNvSpPr/>
          <p:nvPr/>
        </p:nvSpPr>
        <p:spPr>
          <a:xfrm>
            <a:off x="502920" y="4261104"/>
            <a:ext cx="11228832" cy="0"/>
          </a:xfrm>
          <a:prstGeom prst="line">
            <a:avLst/>
          </a:prstGeom>
          <a:noFill/>
          <a:ln w="9525">
            <a:solidFill>
              <a:srgbClr val="E3EAF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2920" y="4261104"/>
            <a:ext cx="11228832" cy="292608"/>
          </a:xfrm>
          <a:prstGeom prst="rect">
            <a:avLst/>
          </a:prstGeom>
          <a:solidFill>
            <a:srgbClr val="F6F9FE"/>
          </a:solidFill>
          <a:ln w="12700">
            <a:solidFill>
              <a:srgbClr val="F6F9F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4360" y="4261104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요격 성립 거리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2697480" y="4261104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표적 반치수 0.21 + 요격기 0.25 + 유도오차 0.1~0.4</a:t>
            </a:r>
            <a:endParaRPr lang="en-US" sz="960" dirty="0"/>
          </a:p>
        </p:txBody>
      </p:sp>
      <p:sp>
        <p:nvSpPr>
          <p:cNvPr id="61" name="Text 59"/>
          <p:cNvSpPr/>
          <p:nvPr/>
        </p:nvSpPr>
        <p:spPr>
          <a:xfrm>
            <a:off x="8046720" y="42611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0.75 m</a:t>
            </a:r>
            <a:endParaRPr lang="en-US" sz="1020" dirty="0"/>
          </a:p>
        </p:txBody>
      </p:sp>
      <p:sp>
        <p:nvSpPr>
          <p:cNvPr id="62" name="Text 60"/>
          <p:cNvSpPr/>
          <p:nvPr/>
        </p:nvSpPr>
        <p:spPr>
          <a:xfrm>
            <a:off x="9281160" y="42611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Drones 2026 · 10(6):420</a:t>
            </a:r>
            <a:endParaRPr lang="en-US" sz="930" dirty="0"/>
          </a:p>
        </p:txBody>
      </p:sp>
      <p:sp>
        <p:nvSpPr>
          <p:cNvPr id="63" name="Shape 61"/>
          <p:cNvSpPr/>
          <p:nvPr/>
        </p:nvSpPr>
        <p:spPr>
          <a:xfrm>
            <a:off x="502920" y="4553712"/>
            <a:ext cx="11228832" cy="0"/>
          </a:xfrm>
          <a:prstGeom prst="line">
            <a:avLst/>
          </a:prstGeom>
          <a:noFill/>
          <a:ln w="9525">
            <a:solidFill>
              <a:srgbClr val="E3EAF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94360" y="4553712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지향 각속도 한계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2697480" y="4553712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네트를 겨눌 때 방향을 돌릴 수 있는 최대 속도</a:t>
            </a:r>
            <a:endParaRPr lang="en-US" sz="960" dirty="0"/>
          </a:p>
        </p:txBody>
      </p:sp>
      <p:sp>
        <p:nvSpPr>
          <p:cNvPr id="66" name="Text 64"/>
          <p:cNvSpPr/>
          <p:nvPr/>
        </p:nvSpPr>
        <p:spPr>
          <a:xfrm>
            <a:off x="8046720" y="45537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rad/s</a:t>
            </a:r>
            <a:endParaRPr lang="en-US" sz="1020" dirty="0"/>
          </a:p>
        </p:txBody>
      </p:sp>
      <p:sp>
        <p:nvSpPr>
          <p:cNvPr id="67" name="Text 65"/>
          <p:cNvSpPr/>
          <p:nvPr/>
        </p:nvSpPr>
        <p:spPr>
          <a:xfrm>
            <a:off x="9281160" y="45537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Pliska 2024 · RA-L</a:t>
            </a:r>
            <a:endParaRPr lang="en-US" sz="930" dirty="0"/>
          </a:p>
        </p:txBody>
      </p:sp>
      <p:sp>
        <p:nvSpPr>
          <p:cNvPr id="68" name="Shape 66"/>
          <p:cNvSpPr/>
          <p:nvPr/>
        </p:nvSpPr>
        <p:spPr>
          <a:xfrm>
            <a:off x="502920" y="4846320"/>
            <a:ext cx="11228832" cy="0"/>
          </a:xfrm>
          <a:prstGeom prst="line">
            <a:avLst/>
          </a:prstGeom>
          <a:noFill/>
          <a:ln w="9525">
            <a:solidFill>
              <a:srgbClr val="E3EAF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02920" y="4846320"/>
            <a:ext cx="11228832" cy="292608"/>
          </a:xfrm>
          <a:prstGeom prst="rect">
            <a:avLst/>
          </a:prstGeom>
          <a:solidFill>
            <a:srgbClr val="F6F9FE"/>
          </a:solidFill>
          <a:ln w="12700">
            <a:solidFill>
              <a:srgbClr val="F6F9F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94360" y="4846320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공격자 최대 기동 가속도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2697480" y="484632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판 무작위로 뽑는 위협 등급. 방어자 능력은 비례해 따라감(가속 0.35배)</a:t>
            </a:r>
            <a:endParaRPr lang="en-US" sz="960" dirty="0"/>
          </a:p>
        </p:txBody>
      </p:sp>
      <p:sp>
        <p:nvSpPr>
          <p:cNvPr id="72" name="Text 70"/>
          <p:cNvSpPr/>
          <p:nvPr/>
        </p:nvSpPr>
        <p:spPr>
          <a:xfrm>
            <a:off x="8046720" y="4846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11~78 m/s²</a:t>
            </a:r>
            <a:endParaRPr lang="en-US" sz="1020" dirty="0"/>
          </a:p>
        </p:txBody>
      </p:sp>
      <p:sp>
        <p:nvSpPr>
          <p:cNvPr id="73" name="Text 71"/>
          <p:cNvSpPr/>
          <p:nvPr/>
        </p:nvSpPr>
        <p:spPr>
          <a:xfrm>
            <a:off x="9281160" y="48463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Pliska 2024 · RA-L</a:t>
            </a:r>
            <a:endParaRPr lang="en-US" sz="930" dirty="0"/>
          </a:p>
        </p:txBody>
      </p:sp>
      <p:sp>
        <p:nvSpPr>
          <p:cNvPr id="74" name="Shape 72"/>
          <p:cNvSpPr/>
          <p:nvPr/>
        </p:nvSpPr>
        <p:spPr>
          <a:xfrm>
            <a:off x="502920" y="5138928"/>
            <a:ext cx="11228832" cy="0"/>
          </a:xfrm>
          <a:prstGeom prst="line">
            <a:avLst/>
          </a:prstGeom>
          <a:noFill/>
          <a:ln w="9525">
            <a:solidFill>
              <a:srgbClr val="E3EAF5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02920" y="5212080"/>
            <a:ext cx="11228832" cy="859536"/>
          </a:xfrm>
          <a:prstGeom prst="roundRect">
            <a:avLst>
              <a:gd name="adj" fmla="val 8511"/>
            </a:avLst>
          </a:prstGeom>
          <a:solidFill>
            <a:srgbClr val="F4F8FF"/>
          </a:solidFill>
          <a:ln w="12700">
            <a:solidFill>
              <a:srgbClr val="C6D6E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3232" y="524865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713232" y="5449824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2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</a:t>
            </a:r>
            <a:pPr indent="0" marL="0">
              <a:lnSpc>
                <a:spcPct val="108000"/>
              </a:lnSpc>
              <a:buNone/>
            </a:pPr>
            <a:r>
              <a:rPr lang="en-US" sz="72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Xu, R.; Peng, Q.; Wu, H. “Optimization Design of Flexible Net Capture System for Low, Slow, and Small Unmanned Aerial Vehicles Based on Improved Multi-Objective Wolf Pack Algorithm.” Drones 2025, 9(3), 190.  doi:10.3390/drones9030190
</a:t>
            </a:r>
            <a:pPr indent="0" marL="0">
              <a:lnSpc>
                <a:spcPct val="108000"/>
              </a:lnSpc>
              <a:buNone/>
            </a:pPr>
            <a:r>
              <a:rPr lang="en-US" sz="72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</a:t>
            </a:r>
            <a:pPr indent="0" marL="0">
              <a:lnSpc>
                <a:spcPct val="108000"/>
              </a:lnSpc>
              <a:buNone/>
            </a:pPr>
            <a:r>
              <a:rPr lang="en-US" sz="72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Pliska, M.; Vrba, M.; Báča, T.; Saska, M. “Towards Safe Mid-Air Drone Interception: Strategies for Tracking &amp; Capture.” IEEE Robotics and Automation Letters 2024, 9(10), 8810–8817.  arXiv:2405.13542
</a:t>
            </a:r>
            <a:pPr indent="0" marL="0">
              <a:lnSpc>
                <a:spcPct val="108000"/>
              </a:lnSpc>
              <a:buNone/>
            </a:pPr>
            <a:r>
              <a:rPr lang="en-US" sz="72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</a:t>
            </a:r>
            <a:pPr indent="0" marL="0">
              <a:lnSpc>
                <a:spcPct val="108000"/>
              </a:lnSpc>
              <a:buNone/>
            </a:pPr>
            <a:r>
              <a:rPr lang="en-US" sz="72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Rothe, J. et al. “Autonomous Drone-on-Drone Interception Using an Integrated LiDAR–Vision Detection System for High-Precision Capture.” Drones 2026, 10(6), 420.
</a:t>
            </a:r>
            <a:pPr indent="0" marL="0">
              <a:lnSpc>
                <a:spcPct val="108000"/>
              </a:lnSpc>
              <a:buNone/>
            </a:pPr>
            <a:r>
              <a:rPr lang="en-US" sz="72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</a:t>
            </a:r>
            <a:pPr indent="0" marL="0">
              <a:lnSpc>
                <a:spcPct val="108000"/>
              </a:lnSpc>
              <a:buNone/>
            </a:pPr>
            <a:r>
              <a:rPr lang="en-US" sz="72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Gavin, Bronz. “Intercepting an Agile Target with Net-Carrying Drones using Competitive Multi-Agent Reinforcement Learning.” arXiv:2607.05939 (preprint) — 가장 가까운 경쟁 연구</a:t>
            </a:r>
            <a:endParaRPr lang="en-US" sz="720" dirty="0"/>
          </a:p>
        </p:txBody>
      </p:sp>
      <p:sp>
        <p:nvSpPr>
          <p:cNvPr id="78" name="Shape 76"/>
          <p:cNvSpPr/>
          <p:nvPr/>
        </p:nvSpPr>
        <p:spPr>
          <a:xfrm>
            <a:off x="502920" y="6199632"/>
            <a:ext cx="11228832" cy="475488"/>
          </a:xfrm>
          <a:prstGeom prst="roundRect">
            <a:avLst>
              <a:gd name="adj" fmla="val 15385"/>
            </a:avLst>
          </a:prstGeom>
          <a:solidFill>
            <a:srgbClr val="EEF3FB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13232" y="6199632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연구비 집행  </a:t>
            </a:r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Max 구독 — 월 $＿＿＿ × ＿＿＿ 개월 = $＿＿＿</a:t>
            </a:r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사용처 : 코드 작성 · 문헌 대조 · 검증 스크립트 작성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2026-08-03T02:34:00Z</dcterms:created>
  <dcterms:modified xsi:type="dcterms:W3CDTF">2026-08-03T02:34:00Z</dcterms:modified>
</cp:coreProperties>
</file>